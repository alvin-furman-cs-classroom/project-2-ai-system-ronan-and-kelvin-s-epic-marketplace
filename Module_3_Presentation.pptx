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Module 3: Query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7C7FF"/>
                </a:solidFill>
              </a:defRPr>
            </a:pPr>
            <a:r>
              <a:t>NLP before LLMs  •  Epic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80"/>
                </a:solidFill>
              </a:defRPr>
            </a:pPr>
            <a:r>
              <a:t>How we turn a raw query into structured search signals — using classic NLP, no transformers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037"/>
                </a:solidFill>
              </a:defRPr>
            </a:pPr>
            <a:r>
              <a:t>The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① Tokenize</a:t>
            </a:r>
            <a:r>
              <a:rPr sz="1500" b="0">
                <a:solidFill>
                  <a:srgbClr val="646480"/>
                </a:solidFill>
              </a:rPr>
              <a:t> — lowercase, remove punctuation &amp; stopwords (NLTK)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② TF-IDF Keywords</a:t>
            </a:r>
            <a:r>
              <a:rPr sz="1500" b="0">
                <a:solidFill>
                  <a:srgbClr val="646480"/>
                </a:solidFill>
              </a:rPr>
              <a:t> — score each token by how discriminative it is across 18K products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③ Word2Vec Embedding</a:t>
            </a:r>
            <a:r>
              <a:rPr sz="1500" b="0">
                <a:solidFill>
                  <a:srgbClr val="646480"/>
                </a:solidFill>
              </a:rPr>
              <a:t> — 100-d skip-gram trained on product text; average word vectors → query vector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④ Category Inference</a:t>
            </a:r>
            <a:r>
              <a:rPr sz="1500" b="0">
                <a:solidFill>
                  <a:srgbClr val="646480"/>
                </a:solidFill>
              </a:rPr>
              <a:t> — TF-IDF + Logistic Regression predicts product category (30 classes)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⑤ Spell Correction</a:t>
            </a:r>
            <a:r>
              <a:rPr sz="1500" b="0">
                <a:solidFill>
                  <a:srgbClr val="646480"/>
                </a:solidFill>
              </a:rPr>
              <a:t> — Levenshtein edit distance vs. Word2Vec vocab → "Did you mean?" suggestions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⑥ Orchestrator + Cache</a:t>
            </a:r>
            <a:r>
              <a:rPr sz="1500" b="0">
                <a:solidFill>
                  <a:srgbClr val="646480"/>
                </a:solidFill>
              </a:rPr>
              <a:t> — combines all steps; 256-entry LRU cache for instant repeated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037"/>
                </a:solidFill>
              </a:defRPr>
            </a:pPr>
            <a:r>
              <a:t>How It Powers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User types:</a:t>
            </a:r>
            <a:r>
              <a:rPr sz="1500" b="0">
                <a:solidFill>
                  <a:srgbClr val="646480"/>
                </a:solidFill>
              </a:rPr>
              <a:t> "bluetoth headphons for running"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Spell correct →</a:t>
            </a:r>
            <a:r>
              <a:rPr sz="1500" b="0">
                <a:solidFill>
                  <a:srgbClr val="646480"/>
                </a:solidFill>
              </a:rPr>
              <a:t> "bluetooth headphones for running"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Tokenize →</a:t>
            </a:r>
            <a:r>
              <a:rPr sz="1500" b="0">
                <a:solidFill>
                  <a:srgbClr val="646480"/>
                </a:solidFill>
              </a:rPr>
              <a:t> [bluetooth, headphones, running]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TF-IDF keywords →</a:t>
            </a:r>
            <a:r>
              <a:rPr sz="1500" b="0">
                <a:solidFill>
                  <a:srgbClr val="646480"/>
                </a:solidFill>
              </a:rPr>
              <a:t> bluetooth (0.72), headphones (0.69)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Embedding →</a:t>
            </a:r>
            <a:r>
              <a:rPr sz="1500" b="0">
                <a:solidFill>
                  <a:srgbClr val="646480"/>
                </a:solidFill>
              </a:rPr>
              <a:t> 100-d vector capturing semantic meaning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Category →</a:t>
            </a:r>
            <a:r>
              <a:rPr sz="1500" b="0">
                <a:solidFill>
                  <a:srgbClr val="646480"/>
                </a:solidFill>
              </a:rPr>
              <a:t> "Electronics" (87% confidence)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1F2037"/>
                </a:solidFill>
              </a:rPr>
              <a:t>Re-rank →</a:t>
            </a:r>
            <a:r>
              <a:rPr sz="1500" b="0">
                <a:solidFill>
                  <a:srgbClr val="646480"/>
                </a:solidFill>
              </a:rPr>
              <a:t> candidates sorted by cosine 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80"/>
                </a:solidFill>
              </a:defRPr>
            </a:pPr>
            <a:r>
              <a:t>Kelvin — tokenizer, keywords, embeddings, spell correction    •    Ronan — category inference, orchestrator,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126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59669"/>
                </a:solidFill>
              </a:defRPr>
            </a:pPr>
            <a:r>
              <a:t>423 tests passing  •  96 Module 3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Features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7C7FF"/>
                </a:solidFill>
              </a:defRPr>
            </a:pPr>
            <a:r>
              <a:t>Module 3  •  Checkpoint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037"/>
                </a:solidFill>
              </a:defRPr>
            </a:pPr>
            <a:r>
              <a:t>Search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Auto-infer category</a:t>
            </a:r>
            <a:r>
              <a:rPr sz="1400" b="0">
                <a:solidFill>
                  <a:srgbClr val="646480"/>
                </a:solidFill>
              </a:rPr>
              <a:t> — classifier picks the category so users don't have to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Embedding re-rank</a:t>
            </a:r>
            <a:r>
              <a:rPr sz="1400" b="0">
                <a:solidFill>
                  <a:srgbClr val="646480"/>
                </a:solidFill>
              </a:rPr>
              <a:t> — cosine similarity surfaces semantically relevant products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"Did you mean?"</a:t>
            </a:r>
            <a:r>
              <a:rPr sz="1400" b="0">
                <a:solidFill>
                  <a:srgbClr val="646480"/>
                </a:solidFill>
              </a:rPr>
              <a:t> — Levenshtein spell correction with clickable suggestion banner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Keyword chips</a:t>
            </a:r>
            <a:r>
              <a:rPr sz="1400" b="0">
                <a:solidFill>
                  <a:srgbClr val="646480"/>
                </a:solidFill>
              </a:rPr>
              <a:t> — show TF-IDF keywords and inferred category on results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037"/>
                </a:solidFill>
              </a:defRPr>
            </a:pPr>
            <a:r>
              <a:t>Professional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Autocomplete</a:t>
            </a:r>
            <a:r>
              <a:rPr sz="1400" b="0">
                <a:solidFill>
                  <a:srgbClr val="646480"/>
                </a:solidFill>
              </a:rPr>
              <a:t> — typeahead dropdown with categories &amp; products as you type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Search history</a:t>
            </a:r>
            <a:r>
              <a:rPr sz="1400" b="0">
                <a:solidFill>
                  <a:srgbClr val="646480"/>
                </a:solidFill>
              </a:rPr>
              <a:t> — recent searches + trending queries in dropdown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Recently viewed</a:t>
            </a:r>
            <a:r>
              <a:rPr sz="1400" b="0">
                <a:solidFill>
                  <a:srgbClr val="646480"/>
                </a:solidFill>
              </a:rPr>
              <a:t> — last 10 products tracked in localStorage, shown on homepage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Similar products</a:t>
            </a:r>
            <a:r>
              <a:rPr sz="1400" b="0">
                <a:solidFill>
                  <a:srgbClr val="646480"/>
                </a:solidFill>
              </a:rPr>
              <a:t> — "Customers Also Viewed" grid using Word2Vec similarity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Skeleton loading</a:t>
            </a:r>
            <a:r>
              <a:rPr sz="1400" b="0">
                <a:solidFill>
                  <a:srgbClr val="646480"/>
                </a:solidFill>
              </a:rPr>
              <a:t> — shimmer cards instead of spinners for perceived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037"/>
                </a:solidFill>
              </a:defRPr>
            </a:pPr>
            <a:r>
              <a:t>Technical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Word2Vec</a:t>
            </a:r>
            <a:r>
              <a:rPr sz="1400" b="0">
                <a:solidFill>
                  <a:srgbClr val="646480"/>
                </a:solidFill>
              </a:rPr>
              <a:t> — skip-gram, 100-d, trained on 18K product corpus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TF-IDF</a:t>
            </a:r>
            <a:r>
              <a:rPr sz="1400" b="0">
                <a:solidFill>
                  <a:srgbClr val="646480"/>
                </a:solidFill>
              </a:rPr>
              <a:t> — fitted vectorizer scores query terms by corpus discrimination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Logistic Regression</a:t>
            </a:r>
            <a:r>
              <a:rPr sz="1400" b="0">
                <a:solidFill>
                  <a:srgbClr val="646480"/>
                </a:solidFill>
              </a:rPr>
              <a:t> — multinomial classifier over 30 product categories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Levenshtein DP</a:t>
            </a:r>
            <a:r>
              <a:rPr sz="1400" b="0">
                <a:solidFill>
                  <a:srgbClr val="646480"/>
                </a:solidFill>
              </a:rPr>
              <a:t> — O(nm) edit distance with length-bucketed vocab search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LRU Cache</a:t>
            </a:r>
            <a:r>
              <a:rPr sz="1400" b="0">
                <a:solidFill>
                  <a:srgbClr val="646480"/>
                </a:solidFill>
              </a:rPr>
              <a:t> — OrderedDict, 256 entries, case-insensitive keys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1F2037"/>
                </a:solidFill>
              </a:rPr>
              <a:t>useSyncExternalStore</a:t>
            </a:r>
            <a:r>
              <a:rPr sz="1400" b="0">
                <a:solidFill>
                  <a:srgbClr val="646480"/>
                </a:solidFill>
              </a:rPr>
              <a:t> — React hook for cross-component localStorage 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029200"/>
            <a:ext cx="11430000" cy="13716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F46E5"/>
                </a:solidFill>
              </a:defRPr>
            </a:pPr>
            <a:r>
              <a:t>423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480"/>
                </a:solidFill>
              </a:defRPr>
            </a:pPr>
            <a:r>
              <a:t>Total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166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F46E5"/>
                </a:solidFill>
              </a:defRPr>
            </a:pPr>
            <a:r>
              <a:t>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480"/>
                </a:solidFill>
              </a:defRPr>
            </a:pPr>
            <a:r>
              <a:t>Module 3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166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F46E5"/>
                </a:solidFill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480"/>
                </a:solidFill>
              </a:defRPr>
            </a:pPr>
            <a:r>
              <a:t>Source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166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F46E5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480"/>
                </a:solidFill>
              </a:defRPr>
            </a:pPr>
            <a:r>
              <a:t>API Endpoints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5166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F46E5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480"/>
                </a:solidFill>
              </a:defRPr>
            </a:pPr>
            <a:r>
              <a:t>NLP Techniques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80"/>
                </a:solidFill>
              </a:defRPr>
            </a:pPr>
            <a:r>
              <a:t>Kelvin Bonsu &amp; Ronan  •  CSC-343  •  Epic Marketplace  •  Checkpoint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