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2E"/>
            </a:gs>
            <a:gs pos="100000">
              <a:srgbClr val="0F0F23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212080" y="1371600"/>
            <a:ext cx="1828800" cy="18288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Inter"/>
              </a:defRPr>
            </a:pPr>
            <a:r>
              <a:t>Epic Marketplace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CCCCC"/>
                </a:solidFill>
                <a:latin typeface="Inter"/>
              </a:defRPr>
            </a:pPr>
            <a:r>
              <a:t>AI-Powered Product Search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5394960"/>
            <a:ext cx="393192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Inter"/>
              </a:defRPr>
            </a:pPr>
            <a:r>
              <a:t>CSC-343 · Spring 2026  |  Kelvin Bonsu &amp; Ronan</a:t>
            </a:r>
          </a:p>
        </p:txBody>
      </p:sp>
      <p:sp>
        <p:nvSpPr>
          <p:cNvPr id="7" name="Oval 6"/>
          <p:cNvSpPr/>
          <p:nvPr/>
        </p:nvSpPr>
        <p:spPr>
          <a:xfrm>
            <a:off x="365760" y="365760"/>
            <a:ext cx="137160" cy="13716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365760"/>
            <a:ext cx="137160" cy="137160"/>
          </a:xfrm>
          <a:prstGeom prst="ellipse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280160" y="365760"/>
            <a:ext cx="137160" cy="13716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737360" y="365760"/>
            <a:ext cx="137160" cy="137160"/>
          </a:xfrm>
          <a:prstGeom prst="ellipse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194560" y="365760"/>
            <a:ext cx="137160" cy="13716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822960"/>
            <a:ext cx="228600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1A2E"/>
                </a:solidFill>
                <a:latin typeface="Inter"/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66666"/>
                </a:solidFill>
                <a:latin typeface="Inter"/>
              </a:defRPr>
            </a:pPr>
            <a:r>
              <a:t>Why does product search need AI?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560320"/>
            <a:ext cx="3474720" cy="10972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C0000"/>
                </a:solidFill>
                <a:latin typeface="Inter"/>
              </a:defRPr>
            </a:pPr>
            <a:r>
              <a:t>18,000+ 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Inter"/>
              </a:defRPr>
            </a:pPr>
            <a:r>
              <a:t>Shoppers are overwhelmed by choice.</a:t>
            </a:r>
            <a:br/>
            <a:r>
              <a:t>Filtering alone isn't enough.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56032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2560320"/>
            <a:ext cx="3474720" cy="10972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2926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580C"/>
                </a:solidFill>
                <a:latin typeface="Inter"/>
              </a:defRPr>
            </a:pPr>
            <a:r>
              <a:t>Relevance ≠ Popularity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34747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Inter"/>
              </a:defRPr>
            </a:pPr>
            <a:r>
              <a:t>Search "charger" — get Roku sticks</a:t>
            </a:r>
            <a:br/>
            <a:r>
              <a:t>with 5★ reviews. Wrong answer.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560320"/>
            <a:ext cx="347472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2560320"/>
            <a:ext cx="3474720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2926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Inter"/>
              </a:defRPr>
            </a:pPr>
            <a:r>
              <a:t>No Query Understanding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47472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Inter"/>
              </a:defRPr>
            </a:pPr>
            <a:r>
              <a:t>Systems sort by ratings, ignoring</a:t>
            </a:r>
            <a:br/>
            <a:r>
              <a:t>what the user actually typed.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2E"/>
                </a:solidFill>
                <a:latin typeface="Inter"/>
              </a:defRPr>
            </a:pPr>
            <a:r>
              <a:t>Our Goal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577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Inter"/>
              </a:defRPr>
            </a:pPr>
            <a:r>
              <a:t>Build an end-to-end search pipeline: Classical Retrieval → NLP → Machine Learning → Evaluation — so the system understands the query, not just the ratings.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640080"/>
            <a:ext cx="274320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1A2E"/>
                </a:solidFill>
                <a:latin typeface="Inter"/>
              </a:defRPr>
            </a:pPr>
            <a:r>
              <a:t>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66666"/>
                </a:solidFill>
                <a:latin typeface="Inter"/>
              </a:defRPr>
            </a:pPr>
            <a:r>
              <a:t>5-module pipeline: each module feeds the next with clear inputs → outputs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1920240" cy="237744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CC"/>
                </a:solidFill>
              </a:defRPr>
            </a:pPr>
            <a:r>
              <a:t>MODULE 1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Retrieval</a:t>
            </a:r>
          </a:p>
          <a:p>
            <a:pPr algn="ctr">
              <a:spcBef>
                <a:spcPts val="1200"/>
              </a:spcBef>
              <a:defRPr sz="1100">
                <a:solidFill>
                  <a:srgbClr val="E0E0FF"/>
                </a:solidFill>
              </a:defRPr>
            </a:pPr>
            <a:r>
              <a:t>BFS/DFS</a:t>
            </a:r>
            <a:br/>
            <a:r>
              <a:t>Tree Search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14600" y="3154680"/>
            <a:ext cx="365760" cy="274320"/>
          </a:xfrm>
          <a:prstGeom prst="right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2103120"/>
            <a:ext cx="1920240" cy="2377440"/>
          </a:xfrm>
          <a:prstGeom prst="roundRect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CC"/>
                </a:solidFill>
              </a:defRPr>
            </a:pPr>
            <a:r>
              <a:t>MODULE 2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Re-ranking</a:t>
            </a:r>
          </a:p>
          <a:p>
            <a:pPr algn="ctr">
              <a:spcBef>
                <a:spcPts val="1200"/>
              </a:spcBef>
              <a:defRPr sz="1100">
                <a:solidFill>
                  <a:srgbClr val="E0E0FF"/>
                </a:solidFill>
              </a:defRPr>
            </a:pPr>
            <a:r>
              <a:t>Hill Climbing</a:t>
            </a:r>
            <a:br/>
            <a:r>
              <a:t>Sim. Annealing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92040" y="3154680"/>
            <a:ext cx="365760" cy="274320"/>
          </a:xfrm>
          <a:prstGeom prst="right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03520" y="2103120"/>
            <a:ext cx="1920240" cy="237744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CC"/>
                </a:solidFill>
              </a:defRPr>
            </a:pPr>
            <a:r>
              <a:t>MODULE 3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NLP</a:t>
            </a:r>
          </a:p>
          <a:p>
            <a:pPr algn="ctr">
              <a:spcBef>
                <a:spcPts val="1200"/>
              </a:spcBef>
              <a:defRPr sz="1100">
                <a:solidFill>
                  <a:srgbClr val="E0E0FF"/>
                </a:solidFill>
              </a:defRPr>
            </a:pPr>
            <a:r>
              <a:t>TF-IDF</a:t>
            </a:r>
            <a:br/>
            <a:r>
              <a:t>Word2Vec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269480" y="3154680"/>
            <a:ext cx="365760" cy="274320"/>
          </a:xfrm>
          <a:prstGeom prst="right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0" y="2103120"/>
            <a:ext cx="1920240" cy="237744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CC"/>
                </a:solidFill>
              </a:defRPr>
            </a:pPr>
            <a:r>
              <a:t>MODULE 4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LTR</a:t>
            </a:r>
          </a:p>
          <a:p>
            <a:pPr algn="ctr">
              <a:spcBef>
                <a:spcPts val="1200"/>
              </a:spcBef>
              <a:defRPr sz="1100">
                <a:solidFill>
                  <a:srgbClr val="E0E0FF"/>
                </a:solidFill>
              </a:defRPr>
            </a:pPr>
            <a:r>
              <a:t>Logistic Reg.</a:t>
            </a:r>
            <a:br/>
            <a:r>
              <a:t>13 Features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646920" y="3154680"/>
            <a:ext cx="365760" cy="274320"/>
          </a:xfrm>
          <a:prstGeom prst="rightArrow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0" y="2103120"/>
            <a:ext cx="1920240" cy="2377440"/>
          </a:xfrm>
          <a:prstGeom prst="roundRect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CC"/>
                </a:solidFill>
              </a:defRPr>
            </a:pPr>
            <a:r>
              <a:t>MODULE 5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FFFFFF"/>
                </a:solidFill>
              </a:defRPr>
            </a:pPr>
            <a:r>
              <a:t>Evaluation</a:t>
            </a:r>
          </a:p>
          <a:p>
            <a:pPr algn="ctr">
              <a:spcBef>
                <a:spcPts val="1200"/>
              </a:spcBef>
              <a:defRPr sz="1100">
                <a:solidFill>
                  <a:srgbClr val="E0E0FF"/>
                </a:solidFill>
              </a:defRPr>
            </a:pPr>
            <a:r>
              <a:t>P@k · NDCG</a:t>
            </a:r>
            <a:br/>
            <a:r>
              <a:t>Ablation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617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Inter"/>
              </a:defRPr>
            </a:pPr>
            <a:r>
              <a:t>Filters →</a:t>
            </a:r>
            <a:br/>
            <a:r>
              <a:t>6,000 IDs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4617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Inter"/>
              </a:defRPr>
            </a:pPr>
            <a:r>
              <a:t>IDs →</a:t>
            </a:r>
            <a:br/>
            <a:r>
              <a:t>(id, score)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4617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Inter"/>
              </a:defRPr>
            </a:pPr>
            <a:r>
              <a:t>Query →</a:t>
            </a:r>
            <a:br/>
            <a:r>
              <a:t>embedding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4617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Inter"/>
              </a:defRPr>
            </a:pPr>
            <a:r>
              <a:t>Features →</a:t>
            </a:r>
            <a:br/>
            <a:r>
              <a:t>score ∈ (0,1)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0" y="461772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Inter"/>
              </a:defRPr>
            </a:pPr>
            <a:r>
              <a:t>Scores →</a:t>
            </a:r>
            <a:br/>
            <a:r>
              <a:t>top-k + metrics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5212080"/>
            <a:ext cx="11064240" cy="109728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3492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Inter"/>
              </a:defRPr>
            </a:pPr>
            <a:r>
              <a:t>Key Integration: Module 3 (NLP) feeds features INTO Module 4 (LTR). The 55/45 blend of semantic relevance + learned quality is what makes the pipeline smarter than either alone.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74320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Inter"/>
              </a:defRPr>
            </a:pPr>
            <a:r>
              <a:t>AI Techniques by Module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91440" cy="23774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737360"/>
            <a:ext cx="457200" cy="45720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Candidate Retrieval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Inter"/>
              </a:defRPr>
            </a:pPr>
            <a:r>
              <a:t>BFS/DFS tree search with category-</a:t>
            </a:r>
            <a:br/>
            <a:r>
              <a:t>tree pruning. O(1) index lookup.</a:t>
            </a:r>
            <a:br/>
            <a:r>
              <a:t>4 strategies: linear, BFS, DFS, A*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E40AF"/>
                </a:solidFill>
                <a:latin typeface="Inter"/>
              </a:defRPr>
            </a:pPr>
            <a:r>
              <a:t>Uninformed &amp;</a:t>
            </a:r>
            <a:br/>
            <a:r>
              <a:t>Informed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554480"/>
            <a:ext cx="91440" cy="2377440"/>
          </a:xfrm>
          <a:prstGeom prst="rect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17720" y="1737360"/>
            <a:ext cx="457200" cy="457200"/>
          </a:xfrm>
          <a:prstGeom prst="ellipse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Heuristic Re-ranking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Inter"/>
              </a:defRPr>
            </a:pPr>
            <a:r>
              <a:t>5-signal weighted scoring formula.</a:t>
            </a:r>
            <a:br/>
            <a:r>
              <a:t>Hill climbing + simulated annealing</a:t>
            </a:r>
            <a:br/>
            <a:r>
              <a:t>optimise NDCG@k objective.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E7A90"/>
                </a:solidFill>
                <a:latin typeface="Inter"/>
              </a:defRPr>
            </a:pPr>
            <a:r>
              <a:t>Advanced Search</a:t>
            </a:r>
            <a:br/>
            <a:r>
              <a:t>&amp; Optimization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55448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554480"/>
            <a:ext cx="91440" cy="2377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458200" y="1737360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17373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Query Understanding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28600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Inter"/>
              </a:defRPr>
            </a:pPr>
            <a:r>
              <a:t>TF-IDF keywords, Word2Vec (100-d),</a:t>
            </a:r>
            <a:br/>
            <a:r>
              <a:t>Logistic Regression category classifier,</a:t>
            </a:r>
            <a:br/>
            <a:r>
              <a:t>spell correction, autocomplete.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33832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7C3AED"/>
                </a:solidFill>
                <a:latin typeface="Inter"/>
              </a:defRPr>
            </a:pPr>
            <a:r>
              <a:t>NLP before</a:t>
            </a:r>
            <a:br/>
            <a:r>
              <a:t>LLMs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20624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206240"/>
            <a:ext cx="91440" cy="23774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4389120"/>
            <a:ext cx="457200" cy="45720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Learning-to-Rank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9377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Inter"/>
              </a:defRPr>
            </a:pPr>
            <a:r>
              <a:t>Logistic Regression on 13 features</a:t>
            </a:r>
            <a:br/>
            <a:r>
              <a:t>(7 product quality + 6 query-product).</a:t>
            </a:r>
            <a:br/>
            <a:r>
              <a:t>CV ROC AUC = 0.963.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035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A580C"/>
                </a:solidFill>
                <a:latin typeface="Inter"/>
              </a:defRPr>
            </a:pPr>
            <a:r>
              <a:t>Supervised</a:t>
            </a:r>
            <a:br/>
            <a:r>
              <a:t>Learning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4206240"/>
            <a:ext cx="356616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4206240"/>
            <a:ext cx="91440" cy="2377440"/>
          </a:xfrm>
          <a:prstGeom prst="rect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617720" y="4389120"/>
            <a:ext cx="457200" cy="457200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Evaluation &amp; Output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9377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Inter"/>
              </a:defRPr>
            </a:pPr>
            <a:r>
              <a:t>P@k, Recall, F1, NDCG, MRR, MAP.</a:t>
            </a:r>
            <a:br/>
            <a:r>
              <a:t>Hybrid ground truth. Ablation study.</a:t>
            </a:r>
            <a:br/>
            <a:r>
              <a:t>Batch + single-query modes.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6035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833E"/>
                </a:solidFill>
                <a:latin typeface="Inter"/>
              </a:defRPr>
            </a:pPr>
            <a:r>
              <a:t>Evaluation</a:t>
            </a:r>
            <a:br/>
            <a:r>
              <a:t>Metrics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Inter"/>
              </a:defRPr>
            </a:pPr>
            <a:r>
              <a:t>Features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Inter"/>
              </a:defRPr>
            </a:pPr>
            <a:r>
              <a:t>12 API endpoints · 5 frontend pages · Full-stack production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20"/>
            <a:ext cx="274320" cy="27432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288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Search + Filters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1945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Inter"/>
              </a:defRPr>
            </a:pPr>
            <a:r>
              <a:t>Price, category, store, rating</a:t>
            </a:r>
            <a:br/>
            <a:r>
              <a:t>filters with live URL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874520"/>
            <a:ext cx="274320" cy="274320"/>
          </a:xfrm>
          <a:prstGeom prst="round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8288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Autocomplete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1945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Inter"/>
              </a:defRPr>
            </a:pPr>
            <a:r>
              <a:t>As-you-type suggestions with</a:t>
            </a:r>
            <a:br/>
            <a:r>
              <a:t>keyboard navigation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1874520"/>
            <a:ext cx="274320" cy="27432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32520" y="18288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Spell Correction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21945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Inter"/>
              </a:defRPr>
            </a:pPr>
            <a:r>
              <a:t>"Did you mean: wireless?"</a:t>
            </a:r>
            <a:br/>
            <a:r>
              <a:t>Levenshtein edit distance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74720"/>
            <a:ext cx="274320" cy="274320"/>
          </a:xfrm>
          <a:prstGeom prst="roundRect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Category Inference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7947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Inter"/>
              </a:defRPr>
            </a:pPr>
            <a:r>
              <a:t>NLP auto-detects category</a:t>
            </a:r>
            <a:br/>
            <a:r>
              <a:t>from query text (40%+ conf.)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3474720"/>
            <a:ext cx="274320" cy="274320"/>
          </a:xfrm>
          <a:prstGeom prst="roundRect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9204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Similar 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7947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Inter"/>
              </a:defRPr>
            </a:pPr>
            <a:r>
              <a:t>Word2Vec cosine similarity</a:t>
            </a:r>
            <a:br/>
            <a:r>
              <a:t>'Customers Also Viewed'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3474720"/>
            <a:ext cx="274320" cy="2743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Deal Finder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37947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Inter"/>
              </a:defRPr>
            </a:pPr>
            <a:r>
              <a:t>Quality-to-price ratio vs category</a:t>
            </a:r>
            <a:br/>
            <a:r>
              <a:t>avg. Hidden gem detection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5074920"/>
            <a:ext cx="274320" cy="274320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5029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LTR Toggle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3949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Inter"/>
              </a:defRPr>
            </a:pPr>
            <a:r>
              <a:t>Compare ML-ranked vs heuristic</a:t>
            </a:r>
            <a:br/>
            <a:r>
              <a:t>results side by side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80560" y="5074920"/>
            <a:ext cx="274320" cy="274320"/>
          </a:xfrm>
          <a:prstGeom prst="roundRect">
            <a:avLst/>
          </a:prstGeom>
          <a:solidFill>
            <a:srgbClr val="99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5029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Ablation Study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53949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Inter"/>
              </a:defRPr>
            </a:pPr>
            <a:r>
              <a:t>Turn modules on/off, measure</a:t>
            </a:r>
            <a:br/>
            <a:r>
              <a:t>each one's contribution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21040" y="5074920"/>
            <a:ext cx="274320" cy="274320"/>
          </a:xfrm>
          <a:prstGeom prst="roundRect">
            <a:avLst/>
          </a:prstGeom>
          <a:solidFill>
            <a:srgbClr val="4B0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32520" y="5029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Hybrid Ground Truth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520" y="539496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Inter"/>
              </a:defRPr>
            </a:pPr>
            <a:r>
              <a:t>Quality AND topicality metric</a:t>
            </a:r>
            <a:br/>
            <a:r>
              <a:t>eliminating saturation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CC0000"/>
            </a:gs>
            <a:gs pos="100000">
              <a:srgbClr val="990000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Inter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CCCC"/>
                </a:solidFill>
                <a:latin typeface="Inter"/>
              </a:defRPr>
            </a:pPr>
            <a:r>
              <a:t>Search · Evaluation · Ablation</a:t>
            </a:r>
          </a:p>
        </p:txBody>
      </p:sp>
      <p:sp>
        <p:nvSpPr>
          <p:cNvPr id="4" name="Oval 3"/>
          <p:cNvSpPr/>
          <p:nvPr/>
        </p:nvSpPr>
        <p:spPr>
          <a:xfrm>
            <a:off x="1371600" y="1371600"/>
            <a:ext cx="731520" cy="731520"/>
          </a:xfrm>
          <a:prstGeom prst="ellipse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5029200"/>
            <a:ext cx="914400" cy="914400"/>
          </a:xfrm>
          <a:prstGeom prst="ellipse">
            <a:avLst/>
          </a:prstGeom>
          <a:solidFill>
            <a:srgbClr val="FF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41280" y="914400"/>
            <a:ext cx="457200" cy="45720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Inter"/>
              </a:defRPr>
            </a:pPr>
            <a:r>
              <a:t>Demo 1: Search Experience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645920"/>
            <a:ext cx="457200" cy="4572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691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Inter"/>
              </a:defRPr>
            </a:pPr>
            <a:r>
              <a:t>1. Type "wireles" → autocomplete dropdown appears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3774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Inter"/>
              </a:defRPr>
            </a:pPr>
            <a:r>
              <a:t>2. Spell correction: "Did you mean: wireless?"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3017520"/>
            <a:ext cx="457200" cy="45720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063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Inter"/>
              </a:defRPr>
            </a:pPr>
            <a:r>
              <a:t>3. Search "wireless headphones" → ranked results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7490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Inter"/>
              </a:defRPr>
            </a:pPr>
            <a:r>
              <a:t>4. Category auto-inferred from query text (purple chip)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389120"/>
            <a:ext cx="457200" cy="457200"/>
          </a:xfrm>
          <a:prstGeom prst="ellipse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434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Inter"/>
              </a:defRPr>
            </a:pPr>
            <a:r>
              <a:t>5. Click product → detail page + similar products (Word2Vec)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5074920"/>
            <a:ext cx="457200" cy="457200"/>
          </a:xfrm>
          <a:prstGeom prst="ellipse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51206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Inter"/>
              </a:defRPr>
            </a:pPr>
            <a:r>
              <a:t>6. "Recently Viewed" section tracks browsing history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Modules Active:</a:t>
            </a:r>
          </a:p>
        </p:txBody>
      </p:sp>
      <p:sp>
        <p:nvSpPr>
          <p:cNvPr id="17" name="Oval 16"/>
          <p:cNvSpPr/>
          <p:nvPr/>
        </p:nvSpPr>
        <p:spPr>
          <a:xfrm>
            <a:off x="8686800" y="2194560"/>
            <a:ext cx="411480" cy="41148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2402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Inter"/>
              </a:defRPr>
            </a:pPr>
            <a:r>
              <a:t>Retrieval</a:t>
            </a:r>
          </a:p>
        </p:txBody>
      </p:sp>
      <p:sp>
        <p:nvSpPr>
          <p:cNvPr id="19" name="Oval 18"/>
          <p:cNvSpPr/>
          <p:nvPr/>
        </p:nvSpPr>
        <p:spPr>
          <a:xfrm>
            <a:off x="8686800" y="2834639"/>
            <a:ext cx="411480" cy="411480"/>
          </a:xfrm>
          <a:prstGeom prst="ellipse">
            <a:avLst/>
          </a:prstGeom>
          <a:solidFill>
            <a:srgbClr val="0E7A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8803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Inter"/>
              </a:defRPr>
            </a:pPr>
            <a:r>
              <a:t>Re-ranking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0" y="347472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3520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Inter"/>
              </a:defRPr>
            </a:pPr>
            <a:r>
              <a:t>NLP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0" y="4114800"/>
            <a:ext cx="411480" cy="41148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160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Inter"/>
              </a:defRPr>
            </a:pPr>
            <a:r>
              <a:t>LTR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Inter"/>
              </a:defRPr>
            </a:pPr>
            <a:r>
              <a:t>Demo 2: Evaluation &amp; Ablation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Inter"/>
              </a:defRPr>
            </a:pPr>
            <a:r>
              <a:t>Navigate to /evaluate → Query: "charger" → Ground truth: hybrid → Compare all variants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Precision@10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011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Inter"/>
              </a:defRPr>
            </a:pPr>
            <a:r>
              <a:t>On-topic (out of 10)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Inter"/>
              </a:defRPr>
            </a:pPr>
            <a:r>
              <a:t>LTR + QU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468880"/>
            <a:ext cx="2560320" cy="457200"/>
          </a:xfrm>
          <a:prstGeom prst="roundRect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 0.800</a:t>
            </a:r>
          </a:p>
        </p:txBody>
      </p:sp>
      <p:sp>
        <p:nvSpPr>
          <p:cNvPr id="9" name="Oval 8"/>
          <p:cNvSpPr/>
          <p:nvPr/>
        </p:nvSpPr>
        <p:spPr>
          <a:xfrm>
            <a:off x="6858000" y="2560320"/>
            <a:ext cx="256032" cy="256032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78040" y="2560320"/>
            <a:ext cx="256032" cy="256032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79" y="2560320"/>
            <a:ext cx="256032" cy="256032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818120" y="2560320"/>
            <a:ext cx="256032" cy="256032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38160" y="2560320"/>
            <a:ext cx="256032" cy="256032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458200" y="2560320"/>
            <a:ext cx="256032" cy="256032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78240" y="2560320"/>
            <a:ext cx="256032" cy="256032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098280" y="2560320"/>
            <a:ext cx="256032" cy="256032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418320" y="2560320"/>
            <a:ext cx="256032" cy="256032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38360" y="2560320"/>
            <a:ext cx="256032" cy="256032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Inter"/>
              </a:defRPr>
            </a:pPr>
            <a:r>
              <a:t>LTR only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3429000"/>
            <a:ext cx="320040" cy="45720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 0.100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0" y="3520440"/>
            <a:ext cx="256032" cy="256032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78040" y="3520440"/>
            <a:ext cx="256032" cy="25603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498079" y="3520440"/>
            <a:ext cx="256032" cy="25603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818120" y="3520440"/>
            <a:ext cx="256032" cy="25603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38160" y="3520440"/>
            <a:ext cx="256032" cy="25603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58200" y="3520440"/>
            <a:ext cx="256032" cy="25603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778240" y="3520440"/>
            <a:ext cx="256032" cy="25603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098280" y="3520440"/>
            <a:ext cx="256032" cy="25603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18320" y="3520440"/>
            <a:ext cx="256032" cy="25603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738360" y="3520440"/>
            <a:ext cx="256032" cy="25603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434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Inter"/>
              </a:defRPr>
            </a:pPr>
            <a:r>
              <a:t>Heuristic + QU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0" y="4389120"/>
            <a:ext cx="2560320" cy="457200"/>
          </a:xfrm>
          <a:prstGeom prst="roundRect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 0.800</a:t>
            </a:r>
          </a:p>
        </p:txBody>
      </p:sp>
      <p:sp>
        <p:nvSpPr>
          <p:cNvPr id="33" name="Oval 32"/>
          <p:cNvSpPr/>
          <p:nvPr/>
        </p:nvSpPr>
        <p:spPr>
          <a:xfrm>
            <a:off x="6858000" y="4480560"/>
            <a:ext cx="256032" cy="256032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178040" y="4480560"/>
            <a:ext cx="256032" cy="256032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498079" y="4480560"/>
            <a:ext cx="256032" cy="256032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818120" y="4480560"/>
            <a:ext cx="256032" cy="256032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38160" y="4480560"/>
            <a:ext cx="256032" cy="256032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458200" y="4480560"/>
            <a:ext cx="256032" cy="256032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778240" y="4480560"/>
            <a:ext cx="256032" cy="256032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9098280" y="4480560"/>
            <a:ext cx="256032" cy="256032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418320" y="4480560"/>
            <a:ext cx="256032" cy="256032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738360" y="4480560"/>
            <a:ext cx="256032" cy="256032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5394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Inter"/>
              </a:defRPr>
            </a:pPr>
            <a:r>
              <a:t>Heuristic only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00400" y="5349240"/>
            <a:ext cx="320040" cy="457200"/>
          </a:xfrm>
          <a:prstGeom prst="round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 0.100</a:t>
            </a:r>
          </a:p>
        </p:txBody>
      </p:sp>
      <p:sp>
        <p:nvSpPr>
          <p:cNvPr id="45" name="Oval 44"/>
          <p:cNvSpPr/>
          <p:nvPr/>
        </p:nvSpPr>
        <p:spPr>
          <a:xfrm>
            <a:off x="6858000" y="5440680"/>
            <a:ext cx="256032" cy="256032"/>
          </a:xfrm>
          <a:prstGeom prst="ellipse">
            <a:avLst/>
          </a:prstGeom>
          <a:solidFill>
            <a:srgbClr val="008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178040" y="5440680"/>
            <a:ext cx="256032" cy="25603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498079" y="5440680"/>
            <a:ext cx="256032" cy="25603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7818120" y="5440680"/>
            <a:ext cx="256032" cy="25603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138160" y="5440680"/>
            <a:ext cx="256032" cy="25603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458200" y="5440680"/>
            <a:ext cx="256032" cy="25603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8778240" y="5440680"/>
            <a:ext cx="256032" cy="25603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098280" y="5440680"/>
            <a:ext cx="256032" cy="25603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418320" y="5440680"/>
            <a:ext cx="256032" cy="25603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738360" y="5440680"/>
            <a:ext cx="256032" cy="256032"/>
          </a:xfrm>
          <a:prstGeom prst="ellipse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31520" y="5943600"/>
            <a:ext cx="10515600" cy="64008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08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97280" y="5989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33E"/>
                </a:solidFill>
                <a:latin typeface="Inter"/>
              </a:defRPr>
            </a:pPr>
            <a:r>
              <a:t>→ Module 3 (NLP) is the #1 contributor: turning it off drops on-topic from 10/10 to 1/10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Inter"/>
              </a:defRPr>
            </a:pPr>
            <a:r>
              <a:t>Limitation: Ground Truth Saturation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A580C"/>
                </a:solidFill>
                <a:latin typeface="Inter"/>
              </a:defRPr>
            </a:pPr>
            <a:r>
              <a:t>Ground Truth: "reviews" (rating ≥ 4★)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  <a:latin typeface="Inter"/>
              </a:defRPr>
            </a:pPr>
            <a:r>
              <a:t>LTR + QU:          P@k = 0.800</a:t>
            </a:r>
          </a:p>
          <a:p>
            <a:pPr>
              <a:spcAft>
                <a:spcPts val="600"/>
              </a:spcAft>
              <a:defRPr sz="1400" b="1">
                <a:solidFill>
                  <a:srgbClr val="CC0000"/>
                </a:solidFill>
                <a:latin typeface="Inter"/>
              </a:defRPr>
            </a:pPr>
            <a:r>
              <a:t>LTR only:           P@k = 1.000  ← 'perfect'!</a:t>
            </a:r>
          </a:p>
          <a:p>
            <a:pPr>
              <a:spcAft>
                <a:spcPts val="600"/>
              </a:spcAft>
              <a:defRPr sz="1400" b="1">
                <a:solidFill>
                  <a:srgbClr val="CC0000"/>
                </a:solidFill>
                <a:latin typeface="Inter"/>
              </a:defRPr>
            </a:pPr>
            <a:r>
              <a:t>Heuristic only:   P@k = 1.000  ← 'perfect'!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Inter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666666"/>
                </a:solidFill>
                <a:latin typeface="Inter"/>
              </a:defRPr>
            </a:pPr>
            <a:r>
              <a:t>But those 'perfect' results are Rokus</a:t>
            </a:r>
          </a:p>
          <a:p>
            <a:pPr>
              <a:spcAft>
                <a:spcPts val="600"/>
              </a:spcAft>
              <a:defRPr sz="1300" b="0">
                <a:solidFill>
                  <a:srgbClr val="666666"/>
                </a:solidFill>
                <a:latin typeface="Inter"/>
              </a:defRPr>
            </a:pPr>
            <a:r>
              <a:t>and flash drives — NOT chargers!</a:t>
            </a:r>
          </a:p>
          <a:p>
            <a:pPr>
              <a:spcAft>
                <a:spcPts val="600"/>
              </a:spcAft>
              <a:defRPr sz="1300" b="1">
                <a:solidFill>
                  <a:srgbClr val="EA580C"/>
                </a:solidFill>
                <a:latin typeface="Inter"/>
              </a:defRPr>
            </a:pPr>
            <a:r>
              <a:t>85% of products qualify as 'relevant'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83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833E"/>
                </a:solidFill>
                <a:latin typeface="Inter"/>
              </a:defRPr>
            </a:pPr>
            <a:r>
              <a:t>Ground Truth: "hybrid" (rating + on-topic)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28600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833E"/>
                </a:solidFill>
                <a:latin typeface="Inter"/>
              </a:defRPr>
            </a:pPr>
            <a:r>
              <a:t>LTR + QU:          P@k = 0.800  ✓</a:t>
            </a:r>
          </a:p>
          <a:p>
            <a:pPr>
              <a:spcAft>
                <a:spcPts val="600"/>
              </a:spcAft>
              <a:defRPr sz="1400" b="0">
                <a:solidFill>
                  <a:srgbClr val="CC0000"/>
                </a:solidFill>
                <a:latin typeface="Inter"/>
              </a:defRPr>
            </a:pPr>
            <a:r>
              <a:t>LTR only:           P@k = 0.100  ✗</a:t>
            </a:r>
          </a:p>
          <a:p>
            <a:pPr>
              <a:spcAft>
                <a:spcPts val="600"/>
              </a:spcAft>
              <a:defRPr sz="1400" b="0">
                <a:solidFill>
                  <a:srgbClr val="CC0000"/>
                </a:solidFill>
                <a:latin typeface="Inter"/>
              </a:defRPr>
            </a:pPr>
            <a:r>
              <a:t>Heuristic only:   P@k = 0.100  ✗</a:t>
            </a:r>
          </a:p>
          <a:p>
            <a:pPr>
              <a:spcAft>
                <a:spcPts val="600"/>
              </a:spcAft>
              <a:defRPr sz="1000" b="0">
                <a:solidFill>
                  <a:srgbClr val="333333"/>
                </a:solidFill>
                <a:latin typeface="Inter"/>
              </a:defRPr>
            </a:pPr>
          </a:p>
          <a:p>
            <a:pPr>
              <a:spcAft>
                <a:spcPts val="600"/>
              </a:spcAft>
              <a:defRPr sz="1300" b="0">
                <a:solidFill>
                  <a:srgbClr val="666666"/>
                </a:solidFill>
                <a:latin typeface="Inter"/>
              </a:defRPr>
            </a:pPr>
            <a:r>
              <a:t>Now the metric correctly rewards</a:t>
            </a:r>
          </a:p>
          <a:p>
            <a:pPr>
              <a:spcAft>
                <a:spcPts val="600"/>
              </a:spcAft>
              <a:defRPr sz="1300" b="0">
                <a:solidFill>
                  <a:srgbClr val="666666"/>
                </a:solidFill>
                <a:latin typeface="Inter"/>
              </a:defRPr>
            </a:pPr>
            <a:r>
              <a:t>pipelines that return actual chargers.</a:t>
            </a:r>
          </a:p>
          <a:p>
            <a:pPr>
              <a:spcAft>
                <a:spcPts val="600"/>
              </a:spcAft>
              <a:defRPr sz="1300" b="1">
                <a:solidFill>
                  <a:srgbClr val="00833E"/>
                </a:solidFill>
                <a:latin typeface="Inter"/>
              </a:defRPr>
            </a:pPr>
            <a:r>
              <a:t>Honest evaluation!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943600"/>
            <a:ext cx="10698480" cy="64008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5989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33333"/>
                </a:solidFill>
                <a:latin typeface="Inter"/>
              </a:defRPr>
            </a:pPr>
            <a:r>
              <a:t>Key insight: Your evaluation is only as good as your ground truth definition.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Inter"/>
              </a:defRPr>
            </a:pPr>
            <a:r>
              <a:t>Technical Evidence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554480"/>
            <a:ext cx="26517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CC0000"/>
                </a:solidFill>
                <a:latin typeface="Inter"/>
              </a:defRPr>
            </a:pPr>
            <a:r>
              <a:t>579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Inter"/>
              </a:defRPr>
            </a:pPr>
            <a:r>
              <a:t>Tests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Inter"/>
              </a:defRPr>
            </a:pPr>
            <a:r>
              <a:t>All passing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54480"/>
            <a:ext cx="26517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737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66CC"/>
                </a:solidFill>
                <a:latin typeface="Inter"/>
              </a:defRPr>
            </a:pPr>
            <a:r>
              <a:t>18,255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Inter"/>
              </a:defRPr>
            </a:pPr>
            <a:r>
              <a:t>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Inter"/>
              </a:defRPr>
            </a:pPr>
            <a:r>
              <a:t>Amazon Electronics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554480"/>
            <a:ext cx="26517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1737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833E"/>
                </a:solidFill>
                <a:latin typeface="Inter"/>
              </a:defRPr>
            </a:pPr>
            <a:r>
              <a:t>0.963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Inter"/>
              </a:defRPr>
            </a:pPr>
            <a:r>
              <a:t>ROC 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Inter"/>
              </a:defRPr>
            </a:pPr>
            <a:r>
              <a:t>LTR model (5-fold CV)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0" y="1554480"/>
            <a:ext cx="265176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0" y="173736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C3AED"/>
                </a:solidFill>
                <a:latin typeface="Inter"/>
              </a:defRPr>
            </a:pPr>
            <a: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4688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Inter"/>
              </a:defRPr>
            </a:pPr>
            <a:r>
              <a:t>API Endpoints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2834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66666"/>
                </a:solidFill>
                <a:latin typeface="Inter"/>
              </a:defRPr>
            </a:pPr>
            <a:r>
              <a:t>FastAPI + React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49039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Inter"/>
              </a:defRPr>
            </a:pPr>
            <a:r>
              <a:t>Test Coverage by Module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206240"/>
            <a:ext cx="320040" cy="32004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22452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Inter"/>
              </a:defRPr>
            </a:pPr>
            <a:r>
              <a:t>Module 1: 170 tests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2245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Inter"/>
              </a:defRPr>
            </a:pPr>
            <a:r>
              <a:t>Catalog, filters, retrieval, BFS/DFS, edge cases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4709159"/>
            <a:ext cx="320040" cy="32004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72744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Inter"/>
              </a:defRPr>
            </a:pPr>
            <a:r>
              <a:t>Module 2: 109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472744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Inter"/>
              </a:defRPr>
            </a:pPr>
            <a:r>
              <a:t>Scorer, ranker, optimizer, deals, SA tuning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5212079"/>
            <a:ext cx="320040" cy="32004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5230367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Inter"/>
              </a:defRPr>
            </a:pPr>
            <a:r>
              <a:t>Module 3: 96 tests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5230367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Inter"/>
              </a:defRPr>
            </a:pPr>
            <a:r>
              <a:t>Tokenizer, TF-IDF, Word2Vec, spell, category</a:t>
            </a:r>
          </a:p>
        </p:txBody>
      </p:sp>
      <p:sp>
        <p:nvSpPr>
          <p:cNvPr id="30" name="Oval 29"/>
          <p:cNvSpPr/>
          <p:nvPr/>
        </p:nvSpPr>
        <p:spPr>
          <a:xfrm>
            <a:off x="822960" y="5715000"/>
            <a:ext cx="320040" cy="32004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73328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Inter"/>
              </a:defRPr>
            </a:pPr>
            <a:r>
              <a:t>Module 4: 51 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73328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Inter"/>
              </a:defRPr>
            </a:pPr>
            <a:r>
              <a:t>Features, model, pipeline, training data, query features</a:t>
            </a:r>
          </a:p>
        </p:txBody>
      </p:sp>
      <p:sp>
        <p:nvSpPr>
          <p:cNvPr id="33" name="Oval 32"/>
          <p:cNvSpPr/>
          <p:nvPr/>
        </p:nvSpPr>
        <p:spPr>
          <a:xfrm>
            <a:off x="822960" y="6217920"/>
            <a:ext cx="320040" cy="32004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62362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2E"/>
                </a:solidFill>
                <a:latin typeface="Inter"/>
              </a:defRPr>
            </a:pPr>
            <a:r>
              <a:t>Module 5: 88 tests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623620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66"/>
                </a:solidFill>
                <a:latin typeface="Inter"/>
              </a:defRPr>
            </a:pPr>
            <a:r>
              <a:t>Metrics, holdout, payload, pipeline, ablation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Inter"/>
              </a:defRPr>
            </a:pPr>
            <a:r>
              <a:t>What We Learned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54480" y="15544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Inter"/>
              </a:defRPr>
            </a:pPr>
            <a:r>
              <a:t>Evaluation design matters as much as the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01168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Inter"/>
              </a:defRPr>
            </a:pPr>
            <a:r>
              <a:t>Review-based ground truth saturated our metrics (P@k=1.0 for wrong answers). We invented a hybrid metric to get honest scores.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329184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2004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Inter"/>
              </a:defRPr>
            </a:pPr>
            <a:r>
              <a:t>NLP contributes more than ML for topicality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36576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Inter"/>
              </a:defRPr>
            </a:pPr>
            <a:r>
              <a:t>Ablation proof: turning QU off drops on-topic from 10/10 to 1/10. Module 3 is the backbone; Module 4 refines quality on top.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937760"/>
            <a:ext cx="548640" cy="548640"/>
          </a:xfrm>
          <a:prstGeom prst="ellipse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846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A1A2E"/>
                </a:solidFill>
                <a:latin typeface="Inter"/>
              </a:defRPr>
            </a:pPr>
            <a:r>
              <a:t>Integration is harder than individual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53035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Inter"/>
              </a:defRPr>
            </a:pPr>
            <a:r>
              <a:t>Feature passing, graceful fallbacks, blend ratios, edge cases. 579 tests give confidence each piece works alone and together.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640080"/>
            <a:ext cx="228600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Inter"/>
              </a:defRPr>
            </a:pPr>
            <a:r>
              <a:t>Limitations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580C"/>
                </a:solidFill>
                <a:latin typeface="Inter"/>
              </a:defRPr>
            </a:pPr>
            <a:r>
              <a:t>Honest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Inter"/>
              </a:defRPr>
            </a:pPr>
            <a:r>
              <a:t>• Ground truth is still a proxy (no human labels)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Inter"/>
              </a:defRPr>
            </a:pPr>
            <a:r>
              <a:t>• Word2Vec trained on 18K products (small corpus)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Inter"/>
              </a:defRPr>
            </a:pPr>
            <a:r>
              <a:t>• Synthetic training labels, not real user clicks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Inter"/>
              </a:defRPr>
            </a:pPr>
            <a:r>
              <a:t>• Single category (Electronics) only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833E"/>
                </a:solidFill>
                <a:latin typeface="Inter"/>
              </a:defRPr>
            </a:pPr>
            <a:r>
              <a:t>Realistic Future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Inter"/>
              </a:defRPr>
            </a:pPr>
            <a:r>
              <a:t>→ Collect real user click/purchase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560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Inter"/>
              </a:defRPr>
            </a:pPr>
            <a:r>
              <a:t>→ A/B test LTR vs heuristic with real 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Inter"/>
              </a:defRPr>
            </a:pPr>
            <a:r>
              <a:t>→ Expand to 100K+ products for better 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Inter"/>
              </a:defRPr>
            </a:pPr>
            <a:r>
              <a:t>→ Cross-encoder re-ranking for top-50 precision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1069848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66666"/>
                </a:solidFill>
                <a:latin typeface="Inter"/>
              </a:defRPr>
            </a:pPr>
            <a:r>
              <a:t>These limitations are INTENTIONAL talking points — they show we understand evaluation rigor.</a:t>
            </a:r>
            <a:br/>
            <a:r>
              <a:t>The hybrid ground truth is our contribution; real user data is the natural next step.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A1A2E"/>
            </a:gs>
            <a:gs pos="100000">
              <a:srgbClr val="0F0F23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94960" y="1097280"/>
            <a:ext cx="1371600" cy="13716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Inter"/>
              </a:defRPr>
            </a:pPr>
            <a: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657600"/>
            <a:ext cx="3017520" cy="5486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Inter"/>
              </a:defRPr>
            </a:pPr>
            <a:r>
              <a:t>5 modules · 579 tests · 18,255 products · 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66666"/>
                </a:solidFill>
                <a:latin typeface="Inter"/>
              </a:defRPr>
            </a:pPr>
            <a:r>
              <a:t>Kelvin Bonsu &amp; Ronan  |  CSC-343 Spring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949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C107"/>
                </a:solidFill>
                <a:latin typeface="Inter"/>
              </a:defRPr>
            </a:pPr>
            <a:r>
              <a:t>Questions?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914400"/>
            <a:ext cx="548640" cy="548640"/>
          </a:xfrm>
          <a:prstGeom prst="ellipse">
            <a:avLst/>
          </a:prstGeom>
          <a:solidFill>
            <a:srgbClr val="4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0" y="5303520"/>
            <a:ext cx="731520" cy="73152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548640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