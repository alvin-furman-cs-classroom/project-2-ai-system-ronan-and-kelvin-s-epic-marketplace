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P@10</c:v>
                </c:pt>
              </c:strCache>
            </c:strRef>
          </c:tx>
          <c:spPr>
            <a:solidFill>
              <a:srgbClr val="DC2626"/>
            </a:solidFill>
          </c:spPr>
          <c:cat>
            <c:strRef>
              <c:f>Sheet1!$A$2:$A$5</c:f>
              <c:strCache>
                <c:ptCount val="4"/>
                <c:pt idx="0">
                  <c:v>LTR + QU</c:v>
                </c:pt>
                <c:pt idx="1">
                  <c:v>LTR only</c:v>
                </c:pt>
                <c:pt idx="2">
                  <c:v>Heuristic + QU</c:v>
                </c:pt>
                <c:pt idx="3">
                  <c:v>Heuristic only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0.1</c:v>
                </c:pt>
                <c:pt idx="2">
                  <c:v>0.8</c:v>
                </c:pt>
                <c:pt idx="3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D4ED8"/>
            </a:solidFill>
          </c:spPr>
          <c:cat>
            <c:strRef>
              <c:f>Sheet1!$A$2:$A$5</c:f>
              <c:strCache>
                <c:ptCount val="4"/>
                <c:pt idx="0">
                  <c:v>LTR + QU</c:v>
                </c:pt>
                <c:pt idx="1">
                  <c:v>LTR only</c:v>
                </c:pt>
                <c:pt idx="2">
                  <c:v>Heuristic + QU</c:v>
                </c:pt>
                <c:pt idx="3">
                  <c:v>Heuristic only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0.975</c:v>
                </c:pt>
                <c:pt idx="1">
                  <c:v>0.301</c:v>
                </c:pt>
                <c:pt idx="2">
                  <c:v>0.975</c:v>
                </c:pt>
                <c:pt idx="3">
                  <c:v>0.301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On-topic rate</c:v>
                </c:pt>
              </c:strCache>
            </c:strRef>
          </c:tx>
          <c:spPr>
            <a:solidFill>
              <a:srgbClr val="059669"/>
            </a:solidFill>
          </c:spPr>
          <c:cat>
            <c:strRef>
              <c:f>Sheet1!$A$2:$A$5</c:f>
              <c:strCache>
                <c:ptCount val="4"/>
                <c:pt idx="0">
                  <c:v>LTR + QU</c:v>
                </c:pt>
                <c:pt idx="1">
                  <c:v>LTR only</c:v>
                </c:pt>
                <c:pt idx="2">
                  <c:v>Heuristic + QU</c:v>
                </c:pt>
                <c:pt idx="3">
                  <c:v>Heuristic only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1.0</c:v>
                </c:pt>
                <c:pt idx="1">
                  <c:v>0.1</c:v>
                </c:pt>
                <c:pt idx="2">
                  <c:v>1.0</c:v>
                </c:pt>
                <c:pt idx="3">
                  <c:v>0.1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Epic Marketplace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D1D5DB"/>
                </a:solidFill>
              </a:defRPr>
            </a:pPr>
            <a:r>
              <a:t>AI-Powered Product Search</a:t>
            </a:r>
            <a:br/>
            <a:br/>
            <a:r>
              <a:t>CSC-343 · Spring 2026</a:t>
            </a:r>
            <a:br/>
            <a:r>
              <a:t>Kelvin Bonsu &amp; Ronan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FFCCCC"/>
                </a:solidFill>
              </a:defRPr>
            </a:pPr>
            <a:r>
              <a:t>Why does product search need AI?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A37"/>
                </a:solidFill>
              </a:defRPr>
            </a:pPr>
            <a:r>
              <a:t>Motivation &amp; Problem Framing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274320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18,000+ electronics products — a shopper types "wireless headphones"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Naive approach: filter by category, sort by star rating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Result: popular items dominate. Niche quality products disappear.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Worse: results are often OFF-TOPIC (5-star Rokus for a 'charger' query)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Our Goal: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Build a search pipeline that understands the QUERY, not just ratings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Combine classical retrieval + NLP + machine learning + rigorous evaluation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Serve small marketplace vendors whose products deserve visibility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</a:defRPr>
            </a:pPr>
            <a:r>
              <a:t>Dataset: Amazon Reviews 2023 — Electronics subset (18,255 products)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FFCCCC"/>
                </a:solidFill>
              </a:defRPr>
            </a:pPr>
            <a:r>
              <a:t>5-module AI search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A37"/>
                </a:solidFill>
              </a:defRPr>
            </a:pPr>
            <a:r>
              <a:t>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822960"/>
            <a:ext cx="4846320" cy="548640"/>
          </a:xfrm>
          <a:prstGeom prst="round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User Query: "wireless headphones" + filters</a:t>
            </a:r>
          </a:p>
        </p:txBody>
      </p:sp>
      <p:sp>
        <p:nvSpPr>
          <p:cNvPr id="4" name="Down Arrow 3"/>
          <p:cNvSpPr/>
          <p:nvPr/>
        </p:nvSpPr>
        <p:spPr>
          <a:xfrm>
            <a:off x="5897880" y="1371600"/>
            <a:ext cx="365760" cy="365760"/>
          </a:xfrm>
          <a:prstGeom prst="down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0" y="1783080"/>
            <a:ext cx="4846320" cy="822960"/>
          </a:xfrm>
          <a:prstGeom prst="roundRect">
            <a:avLst/>
          </a:prstGeom>
          <a:solidFill>
            <a:srgbClr val="1E40AF"/>
          </a:solidFill>
          <a:ln w="19050">
            <a:solidFill>
              <a:srgbClr val="001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Module 1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Candidate Retrieval</a:t>
            </a:r>
          </a:p>
          <a:p>
            <a:pPr algn="ctr">
              <a:defRPr sz="1000">
                <a:solidFill>
                  <a:srgbClr val="FFFFE0"/>
                </a:solidFill>
              </a:defRPr>
            </a:pPr>
            <a:r>
              <a:t>BFS/DFS Tree Search</a:t>
            </a:r>
          </a:p>
        </p:txBody>
      </p:sp>
      <p:sp>
        <p:nvSpPr>
          <p:cNvPr id="6" name="Down Arrow 5"/>
          <p:cNvSpPr/>
          <p:nvPr/>
        </p:nvSpPr>
        <p:spPr>
          <a:xfrm>
            <a:off x="5897880" y="2606040"/>
            <a:ext cx="365760" cy="182880"/>
          </a:xfrm>
          <a:prstGeom prst="down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0" y="2788920"/>
            <a:ext cx="4846320" cy="822960"/>
          </a:xfrm>
          <a:prstGeom prst="roundRect">
            <a:avLst/>
          </a:prstGeom>
          <a:solidFill>
            <a:srgbClr val="16528E"/>
          </a:solidFill>
          <a:ln w="19050">
            <a:solidFill>
              <a:srgbClr val="002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Module 2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Heuristic Re-ranking</a:t>
            </a:r>
          </a:p>
          <a:p>
            <a:pPr algn="ctr">
              <a:defRPr sz="1000">
                <a:solidFill>
                  <a:srgbClr val="FFFFE0"/>
                </a:solidFill>
              </a:defRPr>
            </a:pPr>
            <a:r>
              <a:t>Hill Climbing · Sim. Annealing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97880" y="3611880"/>
            <a:ext cx="365760" cy="182880"/>
          </a:xfrm>
          <a:prstGeom prst="down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0" y="3794760"/>
            <a:ext cx="4846320" cy="822960"/>
          </a:xfrm>
          <a:prstGeom prst="roundRect">
            <a:avLst/>
          </a:prstGeom>
          <a:solidFill>
            <a:srgbClr val="0E7A90"/>
          </a:solidFill>
          <a:ln w="19050">
            <a:solidFill>
              <a:srgbClr val="0052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Module 3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Query Understanding</a:t>
            </a:r>
          </a:p>
          <a:p>
            <a:pPr algn="ctr">
              <a:defRPr sz="1000">
                <a:solidFill>
                  <a:srgbClr val="FFFFE0"/>
                </a:solidFill>
              </a:defRPr>
            </a:pPr>
            <a:r>
              <a:t>TF-IDF · Word2Vec · LogReg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97880" y="4617720"/>
            <a:ext cx="365760" cy="182880"/>
          </a:xfrm>
          <a:prstGeom prst="down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0" y="4800600"/>
            <a:ext cx="4846320" cy="822960"/>
          </a:xfrm>
          <a:prstGeom prst="roundRect">
            <a:avLst/>
          </a:prstGeom>
          <a:solidFill>
            <a:srgbClr val="9A3312"/>
          </a:solidFill>
          <a:ln w="19050">
            <a:solidFill>
              <a:srgbClr val="72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Module 4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Learning-to-Rank</a:t>
            </a:r>
          </a:p>
          <a:p>
            <a:pPr algn="ctr">
              <a:defRPr sz="1000">
                <a:solidFill>
                  <a:srgbClr val="FFFFE0"/>
                </a:solidFill>
              </a:defRPr>
            </a:pPr>
            <a:r>
              <a:t>Logistic Regression (13 features)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897880" y="5623560"/>
            <a:ext cx="365760" cy="182880"/>
          </a:xfrm>
          <a:prstGeom prst="down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0" y="5806440"/>
            <a:ext cx="4846320" cy="822960"/>
          </a:xfrm>
          <a:prstGeom prst="roundRect">
            <a:avLst/>
          </a:prstGeom>
          <a:solidFill>
            <a:srgbClr val="7C2D12"/>
          </a:solidFill>
          <a:ln w="19050">
            <a:solidFill>
              <a:srgbClr val="540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Module 5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Evaluation &amp; Output</a:t>
            </a:r>
          </a:p>
          <a:p>
            <a:pPr algn="ctr">
              <a:defRPr sz="1000">
                <a:solidFill>
                  <a:srgbClr val="FFFFE0"/>
                </a:solidFill>
              </a:defRPr>
            </a:pPr>
            <a:r>
              <a:t>P@k · NDCG · MRR · Ablation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202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Filters (price, category,</a:t>
            </a:r>
            <a:br/>
            <a:r>
              <a:t>store, rating)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9260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Candidate IDs</a:t>
            </a:r>
            <a:br/>
            <a:r>
              <a:t>~6,000 products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9319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Raw query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937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Features: 7 product</a:t>
            </a:r>
            <a:br/>
            <a:r>
              <a:t>+ 6 query-product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9436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Final scores +</a:t>
            </a:r>
            <a:br/>
            <a:r>
              <a:t>ground truth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19202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→ candidate_ids[]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9260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→ (id, score) pairs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9319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→ keywords, embedding,</a:t>
            </a:r>
            <a:br/>
            <a:r>
              <a:t>   category, confidence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937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→ relevance ∈ (0, 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59436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→ top-k + metrics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A37"/>
                </a:solidFill>
              </a:defRPr>
            </a:pPr>
            <a:r>
              <a:t>AI Techniques by Module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743200"/>
                <a:gridCol w="3657600"/>
                <a:gridCol w="2743200"/>
              </a:tblGrid>
              <a:tr h="762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AI Technique</a:t>
                      </a:r>
                    </a:p>
                  </a:txBody>
                  <a:tcPr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Course Topic</a:t>
                      </a:r>
                    </a:p>
                  </a:txBody>
                  <a:tcPr>
                    <a:solidFill>
                      <a:srgbClr val="1F2A3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Candidate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BFS/DFS tree search with pruning, category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Uninformed/Informed Search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Heuristic Re-ranking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Hill climbing, simulated annealing, NDCG optimisation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Advanced Search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Query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TF-IDF, Word2Vec embeddings, Logistic Regression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NLP before LLMs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Learning-to-Rank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Supervised Logistic Regression on 13 engineered features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Supervised Learning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Evaluation &amp;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IR metrics (P@k, NDCG, MRR, MAP), ablation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A37"/>
                          </a:solidFill>
                        </a:defRPr>
                      </a:pPr>
                      <a:r>
                        <a:t>Evaluation Metrics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FFCCCC"/>
                </a:solidFill>
              </a:defRPr>
            </a:pPr>
            <a:r>
              <a:t>Search · Evaluation · Ablation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A37"/>
                </a:solidFill>
              </a:defRPr>
            </a:pPr>
            <a:r>
              <a:t>Demo 1: Search Experience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274320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What we'll show: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Type "wireles" → autocomplete + spell correction ("Did you mean: wireless?")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Search "wireless headphones" → ranked results using all 5 modules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Click a product → detail page with 'Customers Also Viewed' (Word2Vec similarity)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Modules demonstrated: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Module 1: filters narrow 18,255 → ~6,000 candidates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Module 2: heuristic score ranks by quality signals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Module 3: NLP reorders by semantic relevance to query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Module 4: LTR blends quality + relevance into final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</a:defRPr>
            </a:pPr>
            <a:r>
              <a:t>Live at http://localhost:5173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A37"/>
                </a:solidFill>
              </a:defRPr>
            </a:pPr>
            <a:r>
              <a:t>Demo 2: Evaluation &amp;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274320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Navigate to /evaluate page: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Query: "charger" — Category: All Electronics — Ground truth: hybrid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Click 'Compare all variants' → 4 ablation configurations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What the ablation proves: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LTR + QU: P@k = 0.800, On-topic: 10/10 — returns actual chargers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LTR only: P@k = 0.100, On-topic: 1/10 — returns Rokus and flash drives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Module 3 (NLP) is the biggest contributor to topical relevance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Module 4 (LTR) adds quality refinement on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</a:defRPr>
            </a:pPr>
            <a:r>
              <a:t>Ablation = turn modules on/off to measure each one's contribution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A37"/>
                </a:solidFill>
              </a:defRPr>
            </a:pPr>
            <a:r>
              <a:t>Ablation Results — Hybrid Ground Truth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188720"/>
          <a:ext cx="10515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</a:defRPr>
            </a:pPr>
            <a:r>
              <a:t>Query: "charger" | Category: All Electronics | k=10 | Ground truth: hybrid (quality AND topicality)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A37"/>
                </a:solidFill>
              </a:defRPr>
            </a:pPr>
            <a:r>
              <a:t>Demo 3: Limitation — Ground Truth Saturation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274320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Switch ground truth to 'reviews' (rating ≥ 4 only):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LTR + QU drops to P@k = 0.800 (same — some chargers are 3.5★)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LTR only jumps to P@k = 1.000 (perfect! ...but it's returning Rokus)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Heuristic only: P@k = 1.000 (also 'perfect' — also wrong)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Why? 85% of products have a 4★ review. The metric can't distinguish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'relevant to the query' from 'generally popular.'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Key insight: Your evaluation is only as good as your ground truth.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This is why we built the hybrid metric — quality AND topicality.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</a:defRPr>
            </a:pPr>
            <a:r>
              <a:t>This satisfies the rubric: 'Must include at least one limitation or failure case'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A37"/>
                </a:solidFill>
              </a:defRPr>
            </a:pPr>
            <a:r>
              <a:t>Technical Evidence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5603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DC2626"/>
                </a:solidFill>
              </a:defRPr>
            </a:pPr>
            <a:r>
              <a:t>579</a:t>
            </a:r>
          </a:p>
          <a:p>
            <a:pPr algn="ctr">
              <a:defRPr sz="1600" b="1">
                <a:solidFill>
                  <a:srgbClr val="1F2A37"/>
                </a:solidFill>
              </a:defRPr>
            </a:pPr>
            <a:r>
              <a:t>Tests Passing</a:t>
            </a:r>
          </a:p>
          <a:p>
            <a:pPr algn="ctr">
              <a:defRPr sz="1200">
                <a:solidFill>
                  <a:srgbClr val="6B7280"/>
                </a:solidFill>
              </a:defRPr>
            </a:pPr>
            <a:r>
              <a:t>unit +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463040"/>
            <a:ext cx="25603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DC2626"/>
                </a:solidFill>
              </a:defRPr>
            </a:pPr>
            <a:r>
              <a:t>18,255</a:t>
            </a:r>
          </a:p>
          <a:p>
            <a:pPr algn="ctr">
              <a:defRPr sz="1600" b="1">
                <a:solidFill>
                  <a:srgbClr val="1F2A37"/>
                </a:solidFill>
              </a:defRPr>
            </a:pPr>
            <a:r>
              <a:t>Products</a:t>
            </a:r>
          </a:p>
          <a:p>
            <a:pPr algn="ctr">
              <a:defRPr sz="1200">
                <a:solidFill>
                  <a:srgbClr val="6B7280"/>
                </a:solidFill>
              </a:defRPr>
            </a:pPr>
            <a:r>
              <a:t>Amazon Electronics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63040"/>
            <a:ext cx="25603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DC2626"/>
                </a:solidFill>
              </a:defRPr>
            </a:pPr>
            <a:r>
              <a:t>0.963</a:t>
            </a:r>
          </a:p>
          <a:p>
            <a:pPr algn="ctr">
              <a:defRPr sz="1600" b="1">
                <a:solidFill>
                  <a:srgbClr val="1F2A37"/>
                </a:solidFill>
              </a:defRPr>
            </a:pPr>
            <a:r>
              <a:t>ROC AUC</a:t>
            </a:r>
          </a:p>
          <a:p>
            <a:pPr algn="ctr">
              <a:defRPr sz="1200">
                <a:solidFill>
                  <a:srgbClr val="6B7280"/>
                </a:solidFill>
              </a:defRPr>
            </a:pPr>
            <a:r>
              <a:t>LTR model (CV)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35440" y="1463040"/>
            <a:ext cx="25603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DC2626"/>
                </a:solidFill>
              </a:defRPr>
            </a:pPr>
            <a:r>
              <a:t>5</a:t>
            </a:r>
          </a:p>
          <a:p>
            <a:pPr algn="ctr">
              <a:defRPr sz="1600" b="1">
                <a:solidFill>
                  <a:srgbClr val="1F2A37"/>
                </a:solidFill>
              </a:defRPr>
            </a:pPr>
            <a:r>
              <a:t>Modules</a:t>
            </a:r>
          </a:p>
          <a:p>
            <a:pPr algn="ctr">
              <a:defRPr sz="1200">
                <a:solidFill>
                  <a:srgbClr val="6B7280"/>
                </a:solidFill>
              </a:defRPr>
            </a:pPr>
            <a:r>
              <a:t>end-to-end pipeline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347472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1F2A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Module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Catalog, filters, retrieval, edge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170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Module 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Scorer, ranker, optimizer, deals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109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Module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Tokenizer, TF-IDF, W2V, spell,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Module 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Features, model, pipeline, training data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Module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Metrics, holdout, payload,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A37"/>
                          </a:solidFill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Conclusions &amp; 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FFCCCC"/>
                </a:solidFill>
              </a:defRPr>
            </a:pPr>
            <a:r>
              <a:t>What we built, learned, and would improve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A37"/>
                </a:solidFill>
              </a:defRPr>
            </a:pPr>
            <a:r>
              <a:t>What We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274320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1. Evaluation design matters as much as the model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   → Review-based ground truth saturated our metrics (P@k=1.0 for wrong answers)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   → We invented a hybrid metric (quality AND topicality) to get honest scores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2. NLP contributes more than ML for topical relevance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   → Ablation: turning QU off drops on-topic from 10/10 to 1/10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   → Module 3 is the backbone; Module 4 refines quality on top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3. Integration is harder than individual modules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   → Feature passing between modules, graceful fallbacks, blend ratios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   → 579 tests give confidence each piece works alone and together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A37"/>
                </a:solidFill>
              </a:defRPr>
            </a:pPr>
            <a:r>
              <a:t>Limitations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274320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Honest limitations: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Ground truth is still a proxy — review ratings + keyword matching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Word2Vec trained on 18K products — small corpus limits embedding quality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LTR uses synthetic labels (median-split composite), not real user clicks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Single product category (Electronics) — cross-category transfer untested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Realistic future work: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Collect real user click/purchase data to replace synthetic training labels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A/B test LTR vs heuristic baseline with real users measuring CTR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Expand vocabulary with a larger corpus (100K+ products)</a:t>
            </a:r>
          </a:p>
          <a:p>
            <a:pPr>
              <a:spcAft>
                <a:spcPts val="1200"/>
              </a:spcAft>
              <a:defRPr sz="2000">
                <a:solidFill>
                  <a:srgbClr val="1F2A37"/>
                </a:solidFill>
              </a:defRPr>
            </a:pPr>
            <a:r>
              <a:t>• Add cross-encoder re-ranking for top-50 candidates (semantic precision)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Epic Marketplace — AI-Powered Product Search</a:t>
            </a:r>
          </a:p>
          <a:p>
            <a:pPr algn="ctr">
              <a:defRPr sz="1800">
                <a:solidFill>
                  <a:srgbClr val="D1D5DB"/>
                </a:solidFill>
              </a:defRPr>
            </a:pPr>
          </a:p>
          <a:p>
            <a:pPr algn="ctr">
              <a:defRPr sz="1800">
                <a:solidFill>
                  <a:srgbClr val="D1D5DB"/>
                </a:solidFill>
              </a:defRPr>
            </a:pPr>
            <a:r>
              <a:t>5 modules · 579 tests · 18,255 products · Live demo</a:t>
            </a:r>
          </a:p>
          <a:p>
            <a:pPr algn="ctr">
              <a:defRPr sz="1800">
                <a:solidFill>
                  <a:srgbClr val="D1D5DB"/>
                </a:solidFill>
              </a:defRPr>
            </a:pPr>
          </a:p>
          <a:p>
            <a:pPr algn="ctr">
              <a:defRPr sz="1800">
                <a:solidFill>
                  <a:srgbClr val="D1D5DB"/>
                </a:solidFill>
              </a:defRPr>
            </a:pPr>
            <a:r>
              <a:t>Kelvin Bonsu &amp; Ronan</a:t>
            </a:r>
          </a:p>
          <a:p>
            <a:pPr algn="ctr">
              <a:defRPr sz="1800">
                <a:solidFill>
                  <a:srgbClr val="D1D5DB"/>
                </a:solidFill>
              </a:defRPr>
            </a:pPr>
            <a:r>
              <a:t>CSC-343 · Spring 2026</a:t>
            </a:r>
          </a:p>
          <a:p>
            <a:pPr algn="ctr">
              <a:defRPr sz="1800">
                <a:solidFill>
                  <a:srgbClr val="D1D5DB"/>
                </a:solidFill>
              </a:defRPr>
            </a:pPr>
          </a:p>
          <a:p>
            <a:pPr algn="ctr">
              <a:defRPr sz="1800">
                <a:solidFill>
                  <a:srgbClr val="D1D5DB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